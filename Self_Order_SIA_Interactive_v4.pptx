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60" r:id="rId4"/>
    <p:sldId id="258" r:id="rId5"/>
    <p:sldId id="259" r:id="rId6"/>
    <p:sldId id="263" r:id="rId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A192C"/>
    <a:srgbClr val="112947"/>
    <a:srgbClr val="FEF990"/>
    <a:srgbClr val="D1F3FF"/>
    <a:srgbClr val="FFAD9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301" autoAdjust="0"/>
  </p:normalViewPr>
  <p:slideViewPr>
    <p:cSldViewPr snapToGrid="0" snapToObjects="1">
      <p:cViewPr varScale="1">
        <p:scale>
          <a:sx n="69" d="100"/>
          <a:sy n="69" d="100"/>
        </p:scale>
        <p:origin x="756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92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5800" y="640080"/>
            <a:ext cx="3657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0EA5E9"/>
                </a:solidFill>
                <a:latin typeface="Aptos"/>
              </a:rPr>
              <a:t>SELF ORDER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188720"/>
            <a:ext cx="5669280" cy="120032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lang="es-ES" sz="3600" b="1" dirty="0">
                <a:solidFill>
                  <a:srgbClr val="FFFFFF"/>
                </a:solidFill>
                <a:latin typeface="Aptos"/>
              </a:rPr>
              <a:t>Sistema </a:t>
            </a:r>
            <a:r>
              <a:rPr lang="es-ES" sz="3600" b="1" i="1" dirty="0" err="1">
                <a:solidFill>
                  <a:srgbClr val="FFFFFF"/>
                </a:solidFill>
                <a:latin typeface="Aptos"/>
              </a:rPr>
              <a:t>self-order</a:t>
            </a:r>
            <a:r>
              <a:rPr lang="es-ES" sz="3600" b="1" dirty="0">
                <a:solidFill>
                  <a:srgbClr val="FFFFFF"/>
                </a:solidFill>
                <a:latin typeface="Aptos"/>
              </a:rPr>
              <a:t>
conversacional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2816352"/>
            <a:ext cx="5349240" cy="113877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lang="es-ES" sz="1700" dirty="0">
                <a:solidFill>
                  <a:srgbClr val="CBD5E1"/>
                </a:solidFill>
                <a:latin typeface="Aptos"/>
              </a:rPr>
              <a:t>Sistema </a:t>
            </a:r>
            <a:r>
              <a:rPr lang="es-ES" sz="1700" i="1" dirty="0" err="1">
                <a:solidFill>
                  <a:srgbClr val="CBD5E1"/>
                </a:solidFill>
                <a:latin typeface="Aptos"/>
              </a:rPr>
              <a:t>self-order</a:t>
            </a:r>
            <a:r>
              <a:rPr lang="es-ES" sz="1700" dirty="0">
                <a:solidFill>
                  <a:srgbClr val="CBD5E1"/>
                </a:solidFill>
                <a:latin typeface="Aptos"/>
              </a:rPr>
              <a:t> con </a:t>
            </a:r>
            <a:r>
              <a:rPr lang="es-ES" sz="1700" dirty="0" err="1">
                <a:solidFill>
                  <a:srgbClr val="CBD5E1"/>
                </a:solidFill>
                <a:latin typeface="Aptos"/>
              </a:rPr>
              <a:t>frontend</a:t>
            </a:r>
            <a:r>
              <a:rPr lang="es-ES" sz="1700" dirty="0">
                <a:solidFill>
                  <a:srgbClr val="CBD5E1"/>
                </a:solidFill>
                <a:latin typeface="Aptos"/>
              </a:rPr>
              <a:t>, </a:t>
            </a:r>
            <a:r>
              <a:rPr lang="es-ES" sz="1700" dirty="0" err="1">
                <a:solidFill>
                  <a:srgbClr val="CBD5E1"/>
                </a:solidFill>
                <a:latin typeface="Aptos"/>
              </a:rPr>
              <a:t>backend</a:t>
            </a:r>
            <a:r>
              <a:rPr lang="es-ES" sz="1700" dirty="0">
                <a:solidFill>
                  <a:srgbClr val="CBD5E1"/>
                </a:solidFill>
                <a:latin typeface="Aptos"/>
              </a:rPr>
              <a:t> e integración con LLM que permite que el usuario realice su pedido hablando con lenguaje natural, y el carrito se construya y valide en tiempo real.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13232" y="4297680"/>
            <a:ext cx="1508760" cy="347472"/>
          </a:xfrm>
          <a:prstGeom prst="roundRect">
            <a:avLst/>
          </a:prstGeom>
          <a:solidFill>
            <a:srgbClr val="1E3A55"/>
          </a:solidFill>
          <a:ln>
            <a:solidFill>
              <a:srgbClr val="1E3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13232" y="4306824"/>
            <a:ext cx="1508760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00" b="1">
                <a:solidFill>
                  <a:srgbClr val="0EA5E9"/>
                </a:solidFill>
                <a:latin typeface="Aptos"/>
              </a:rPr>
              <a:t>CONVERSACIÓN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359152" y="4297680"/>
            <a:ext cx="1325880" cy="347472"/>
          </a:xfrm>
          <a:prstGeom prst="roundRect">
            <a:avLst/>
          </a:prstGeom>
          <a:solidFill>
            <a:srgbClr val="1E3A55"/>
          </a:solidFill>
          <a:ln>
            <a:solidFill>
              <a:srgbClr val="1E3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2359152" y="4306824"/>
            <a:ext cx="1325880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00" b="1">
                <a:solidFill>
                  <a:srgbClr val="0EA5E9"/>
                </a:solidFill>
                <a:latin typeface="Aptos"/>
              </a:rPr>
              <a:t>VALIDACIÓN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822191" y="4297680"/>
            <a:ext cx="2011680" cy="347472"/>
          </a:xfrm>
          <a:prstGeom prst="roundRect">
            <a:avLst/>
          </a:prstGeom>
          <a:solidFill>
            <a:srgbClr val="1E3A55"/>
          </a:solidFill>
          <a:ln>
            <a:solidFill>
              <a:srgbClr val="1E3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822191" y="4306824"/>
            <a:ext cx="2011680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00" b="1">
                <a:solidFill>
                  <a:srgbClr val="0EA5E9"/>
                </a:solidFill>
                <a:latin typeface="Aptos"/>
              </a:rPr>
              <a:t>CARRITO EN TIEMPO REAL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903720" y="685800"/>
            <a:ext cx="4526280" cy="5349240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223760" y="932688"/>
            <a:ext cx="2103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121F31"/>
                </a:solidFill>
                <a:latin typeface="Aptos"/>
              </a:rPr>
              <a:t>Self Order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829800" y="914400"/>
            <a:ext cx="1143000" cy="347472"/>
          </a:xfrm>
          <a:prstGeom prst="roundRect">
            <a:avLst/>
          </a:prstGeom>
          <a:solidFill>
            <a:srgbClr val="ECFDF5"/>
          </a:solidFill>
          <a:ln>
            <a:solidFill>
              <a:srgbClr val="ECFD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9829800" y="923544"/>
            <a:ext cx="1143000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00" b="1">
                <a:solidFill>
                  <a:srgbClr val="10B981"/>
                </a:solidFill>
                <a:latin typeface="Aptos"/>
              </a:rPr>
              <a:t>● LISTO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223760" y="1481328"/>
            <a:ext cx="3886200" cy="96012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424927" y="1627632"/>
            <a:ext cx="10972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64748B"/>
                </a:solidFill>
                <a:latin typeface="Aptos"/>
              </a:rPr>
              <a:t>Asistente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424927" y="1847088"/>
            <a:ext cx="329184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0F172A"/>
                </a:solidFill>
                <a:latin typeface="Aptos"/>
              </a:rPr>
              <a:t>Hola. Podés escribir tu pedido
o tocar Hablar para comenzar.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223760" y="2670048"/>
            <a:ext cx="3886200" cy="1097280"/>
          </a:xfrm>
          <a:prstGeom prst="roundRect">
            <a:avLst/>
          </a:prstGeom>
          <a:solidFill>
            <a:srgbClr val="EFF6FF"/>
          </a:solidFill>
          <a:ln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424927" y="2816352"/>
            <a:ext cx="7315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2563EB"/>
                </a:solidFill>
                <a:latin typeface="Aptos"/>
              </a:rPr>
              <a:t>Vos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424927" y="3035808"/>
            <a:ext cx="3291840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0F172A"/>
                </a:solidFill>
                <a:latin typeface="Aptos"/>
              </a:rPr>
              <a:t>Quiero una clásica con
agua y tomate.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269480" y="4069080"/>
            <a:ext cx="13716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64748B"/>
                </a:solidFill>
                <a:latin typeface="Aptos"/>
              </a:rPr>
              <a:t>TU CARRITO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0" y="4407408"/>
            <a:ext cx="1828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21F31"/>
                </a:solidFill>
                <a:latin typeface="Aptos"/>
              </a:rPr>
              <a:t>Burger Clásica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0" y="4736592"/>
            <a:ext cx="21945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64748B"/>
                </a:solidFill>
                <a:latin typeface="Aptos"/>
              </a:rPr>
              <a:t>Agua  ·  + Tomate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802368" y="4480560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500" b="1">
                <a:solidFill>
                  <a:srgbClr val="121F31"/>
                </a:solidFill>
                <a:latin typeface="Aptos"/>
              </a:rPr>
              <a:t>$ 9.500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13232" y="6108192"/>
            <a:ext cx="41148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  <a:latin typeface="Aptos"/>
              </a:rPr>
              <a:t>Prueba de concepto · Septiembre 2026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47472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300" b="1">
                <a:solidFill>
                  <a:srgbClr val="7332FA"/>
                </a:solidFill>
                <a:latin typeface="Aptos"/>
              </a:rPr>
              <a:t>02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51560" y="246888"/>
            <a:ext cx="10424160" cy="47705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lang="es-ES" sz="2500" b="1" dirty="0" smtClean="0">
                <a:solidFill>
                  <a:srgbClr val="121F31"/>
                </a:solidFill>
                <a:latin typeface="Aptos"/>
              </a:rPr>
              <a:t>Cómo se prepara el sistema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" y="758952"/>
            <a:ext cx="10058400" cy="26161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 dirty="0" err="1">
                <a:solidFill>
                  <a:srgbClr val="64748B"/>
                </a:solidFill>
                <a:latin typeface="Aptos"/>
              </a:rPr>
              <a:t>Qué</a:t>
            </a:r>
            <a:r>
              <a:rPr sz="1100" b="0" dirty="0">
                <a:solidFill>
                  <a:srgbClr val="64748B"/>
                </a:solidFill>
                <a:latin typeface="Aptos"/>
              </a:rPr>
              <a:t> </a:t>
            </a:r>
            <a:r>
              <a:rPr sz="1100" b="0" dirty="0" err="1">
                <a:solidFill>
                  <a:srgbClr val="64748B"/>
                </a:solidFill>
                <a:latin typeface="Aptos"/>
              </a:rPr>
              <a:t>queda</a:t>
            </a:r>
            <a:r>
              <a:rPr sz="1100" b="0" dirty="0">
                <a:solidFill>
                  <a:srgbClr val="64748B"/>
                </a:solidFill>
                <a:latin typeface="Aptos"/>
              </a:rPr>
              <a:t> </a:t>
            </a:r>
            <a:r>
              <a:rPr sz="1100" b="0" dirty="0" err="1">
                <a:solidFill>
                  <a:srgbClr val="64748B"/>
                </a:solidFill>
                <a:latin typeface="Aptos"/>
              </a:rPr>
              <a:t>preparado</a:t>
            </a:r>
            <a:r>
              <a:rPr sz="1100" b="0" dirty="0">
                <a:solidFill>
                  <a:srgbClr val="64748B"/>
                </a:solidFill>
                <a:latin typeface="Aptos"/>
              </a:rPr>
              <a:t> antes de </a:t>
            </a:r>
            <a:r>
              <a:rPr sz="1100" b="0" dirty="0" err="1">
                <a:solidFill>
                  <a:srgbClr val="64748B"/>
                </a:solidFill>
                <a:latin typeface="Aptos"/>
              </a:rPr>
              <a:t>que</a:t>
            </a:r>
            <a:r>
              <a:rPr sz="1100" b="0" dirty="0">
                <a:solidFill>
                  <a:srgbClr val="64748B"/>
                </a:solidFill>
                <a:latin typeface="Aptos"/>
              </a:rPr>
              <a:t> la persona </a:t>
            </a:r>
            <a:r>
              <a:rPr sz="1100" b="0" dirty="0" err="1" smtClean="0">
                <a:solidFill>
                  <a:srgbClr val="64748B"/>
                </a:solidFill>
                <a:latin typeface="Aptos"/>
              </a:rPr>
              <a:t>empiece</a:t>
            </a:r>
            <a:r>
              <a:rPr lang="es-ES" sz="1100" dirty="0">
                <a:solidFill>
                  <a:srgbClr val="64748B"/>
                </a:solidFill>
                <a:latin typeface="Aptos"/>
              </a:rPr>
              <a:t> </a:t>
            </a:r>
            <a:r>
              <a:rPr sz="1100" b="0" dirty="0" smtClean="0">
                <a:solidFill>
                  <a:srgbClr val="64748B"/>
                </a:solidFill>
                <a:latin typeface="Aptos"/>
              </a:rPr>
              <a:t>a </a:t>
            </a:r>
            <a:r>
              <a:rPr sz="1100" b="0" dirty="0" err="1">
                <a:solidFill>
                  <a:srgbClr val="64748B"/>
                </a:solidFill>
                <a:latin typeface="Aptos"/>
              </a:rPr>
              <a:t>pedir</a:t>
            </a:r>
            <a:r>
              <a:rPr sz="1100" b="0" dirty="0">
                <a:solidFill>
                  <a:srgbClr val="64748B"/>
                </a:solidFill>
                <a:latin typeface="Aptos"/>
              </a:rPr>
              <a:t>.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02920" y="6510528"/>
            <a:ext cx="36576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64748B"/>
                </a:solidFill>
                <a:latin typeface="Aptos"/>
              </a:rPr>
              <a:t>SELF ORDER  •  POC CONVERSACIONAL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332720" y="6510528"/>
            <a:ext cx="13716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0">
                <a:solidFill>
                  <a:srgbClr val="64748B"/>
                </a:solidFill>
                <a:latin typeface="Aptos"/>
              </a:rPr>
              <a:t>SIA Interactive</a:t>
            </a:r>
          </a:p>
        </p:txBody>
      </p:sp>
      <p:sp>
        <p:nvSpPr>
          <p:cNvPr id="44" name="Oval 43"/>
          <p:cNvSpPr/>
          <p:nvPr/>
        </p:nvSpPr>
        <p:spPr>
          <a:xfrm>
            <a:off x="539496" y="1591056"/>
            <a:ext cx="475488" cy="475488"/>
          </a:xfrm>
          <a:prstGeom prst="ellipse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 dirty="0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124712" y="1581912"/>
            <a:ext cx="196596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dirty="0" err="1" smtClean="0">
                <a:solidFill>
                  <a:srgbClr val="171329"/>
                </a:solidFill>
                <a:latin typeface="Aptos"/>
              </a:rPr>
              <a:t>Inicia</a:t>
            </a:r>
            <a:r>
              <a:rPr lang="es-ES" sz="1300" b="1" dirty="0" smtClean="0">
                <a:solidFill>
                  <a:srgbClr val="171329"/>
                </a:solidFill>
                <a:latin typeface="Aptos"/>
              </a:rPr>
              <a:t> el sistema</a:t>
            </a:r>
            <a:endParaRPr sz="1300" b="1" dirty="0">
              <a:solidFill>
                <a:srgbClr val="171329"/>
              </a:solidFill>
              <a:latin typeface="Aptos"/>
            </a:endParaRPr>
          </a:p>
        </p:txBody>
      </p:sp>
      <p:sp>
        <p:nvSpPr>
          <p:cNvPr id="46" name="TextBox 45"/>
          <p:cNvSpPr txBox="1"/>
          <p:nvPr/>
        </p:nvSpPr>
        <p:spPr>
          <a:xfrm>
            <a:off x="1124712" y="1865376"/>
            <a:ext cx="20574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625D75"/>
                </a:solidFill>
                <a:latin typeface="Aptos"/>
              </a:rPr>
              <a:t>Backend desarrollado en Python usando FastAPI como framework web.</a:t>
            </a:r>
          </a:p>
        </p:txBody>
      </p:sp>
      <p:sp>
        <p:nvSpPr>
          <p:cNvPr id="47" name="Oval 46"/>
          <p:cNvSpPr/>
          <p:nvPr/>
        </p:nvSpPr>
        <p:spPr>
          <a:xfrm>
            <a:off x="539496" y="2670048"/>
            <a:ext cx="475488" cy="475488"/>
          </a:xfrm>
          <a:prstGeom prst="ellipse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124712" y="2660904"/>
            <a:ext cx="1965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71329"/>
                </a:solidFill>
                <a:latin typeface="Aptos"/>
              </a:rPr>
              <a:t>Lee el menú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124712" y="2944368"/>
            <a:ext cx="20574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625D75"/>
                </a:solidFill>
                <a:latin typeface="Aptos"/>
              </a:rPr>
              <a:t>Carga productos, precios, modificadores y disponibilidad.</a:t>
            </a:r>
          </a:p>
        </p:txBody>
      </p:sp>
      <p:sp>
        <p:nvSpPr>
          <p:cNvPr id="50" name="Oval 49"/>
          <p:cNvSpPr/>
          <p:nvPr/>
        </p:nvSpPr>
        <p:spPr>
          <a:xfrm>
            <a:off x="539496" y="3749040"/>
            <a:ext cx="475488" cy="475488"/>
          </a:xfrm>
          <a:prstGeom prst="ellipse">
            <a:avLst/>
          </a:prstGeom>
          <a:solidFill>
            <a:srgbClr val="7332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124712" y="3739896"/>
            <a:ext cx="1965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71329"/>
                </a:solidFill>
                <a:latin typeface="Aptos"/>
              </a:rPr>
              <a:t>Levanta el frontend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124712" y="4023360"/>
            <a:ext cx="20574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625D75"/>
                </a:solidFill>
                <a:latin typeface="Aptos"/>
              </a:rPr>
              <a:t>La interfaz queda disponible para comenzar la interacción.</a:t>
            </a:r>
          </a:p>
        </p:txBody>
      </p:sp>
      <p:sp>
        <p:nvSpPr>
          <p:cNvPr id="53" name="Oval 52"/>
          <p:cNvSpPr/>
          <p:nvPr/>
        </p:nvSpPr>
        <p:spPr>
          <a:xfrm>
            <a:off x="539496" y="4828032"/>
            <a:ext cx="475488" cy="475488"/>
          </a:xfrm>
          <a:prstGeom prst="ellipse">
            <a:avLst/>
          </a:prstGeom>
          <a:solidFill>
            <a:srgbClr val="00B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124712" y="4818888"/>
            <a:ext cx="1965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71329"/>
                </a:solidFill>
                <a:latin typeface="Aptos"/>
              </a:rPr>
              <a:t>Crea una sesión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124712" y="5102352"/>
            <a:ext cx="20574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625D75"/>
                </a:solidFill>
                <a:latin typeface="Aptos"/>
              </a:rPr>
              <a:t>Genera un session_id y un carrito vacío.</a:t>
            </a:r>
          </a:p>
        </p:txBody>
      </p:sp>
      <p:sp>
        <p:nvSpPr>
          <p:cNvPr id="56" name="Oval 55"/>
          <p:cNvSpPr/>
          <p:nvPr/>
        </p:nvSpPr>
        <p:spPr>
          <a:xfrm>
            <a:off x="6025896" y="1591056"/>
            <a:ext cx="475488" cy="475488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611112" y="1581912"/>
            <a:ext cx="1965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71329"/>
                </a:solidFill>
                <a:latin typeface="Aptos"/>
              </a:rPr>
              <a:t>Abre WebSocket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611112" y="1865376"/>
            <a:ext cx="20574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625D75"/>
                </a:solidFill>
                <a:latin typeface="Aptos"/>
              </a:rPr>
              <a:t>Conexión persistente y bidireccional para eventos en tiempo real.</a:t>
            </a:r>
          </a:p>
        </p:txBody>
      </p:sp>
      <p:sp>
        <p:nvSpPr>
          <p:cNvPr id="59" name="Oval 58"/>
          <p:cNvSpPr/>
          <p:nvPr/>
        </p:nvSpPr>
        <p:spPr>
          <a:xfrm>
            <a:off x="6025896" y="2670048"/>
            <a:ext cx="475488" cy="475488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6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6611112" y="2660904"/>
            <a:ext cx="196596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s-ES" sz="1300" b="1" dirty="0" smtClean="0">
                <a:solidFill>
                  <a:srgbClr val="171329"/>
                </a:solidFill>
                <a:latin typeface="Aptos"/>
              </a:rPr>
              <a:t>Micrófono</a:t>
            </a:r>
            <a:endParaRPr sz="1300" b="1" dirty="0">
              <a:solidFill>
                <a:srgbClr val="171329"/>
              </a:solidFill>
              <a:latin typeface="Aptos"/>
            </a:endParaRPr>
          </a:p>
        </p:txBody>
      </p:sp>
      <p:sp>
        <p:nvSpPr>
          <p:cNvPr id="61" name="TextBox 60"/>
          <p:cNvSpPr txBox="1"/>
          <p:nvPr/>
        </p:nvSpPr>
        <p:spPr>
          <a:xfrm>
            <a:off x="6611112" y="2944368"/>
            <a:ext cx="2057400" cy="3847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s-ES" sz="950" b="0" dirty="0" smtClean="0">
                <a:solidFill>
                  <a:srgbClr val="625D75"/>
                </a:solidFill>
                <a:latin typeface="Aptos"/>
              </a:rPr>
              <a:t>Conexiones y permisos de micrófono</a:t>
            </a:r>
            <a:endParaRPr sz="950" b="0" dirty="0">
              <a:solidFill>
                <a:srgbClr val="625D75"/>
              </a:solidFill>
              <a:latin typeface="Aptos"/>
            </a:endParaRPr>
          </a:p>
        </p:txBody>
      </p:sp>
      <p:sp>
        <p:nvSpPr>
          <p:cNvPr id="62" name="Oval 61"/>
          <p:cNvSpPr/>
          <p:nvPr/>
        </p:nvSpPr>
        <p:spPr>
          <a:xfrm>
            <a:off x="6057900" y="4828032"/>
            <a:ext cx="475488" cy="475488"/>
          </a:xfrm>
          <a:prstGeom prst="ellipse">
            <a:avLst/>
          </a:prstGeom>
          <a:solidFill>
            <a:srgbClr val="92D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 dirty="0">
                <a:solidFill>
                  <a:srgbClr val="FFFFFF"/>
                </a:solidFill>
                <a:latin typeface="Aptos"/>
              </a:rPr>
              <a:t>7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6643116" y="4818888"/>
            <a:ext cx="1965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71329"/>
                </a:solidFill>
                <a:latin typeface="Aptos"/>
              </a:rPr>
              <a:t>Prepara la gestión del pedido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6643116" y="5296321"/>
            <a:ext cx="20574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625D75"/>
                </a:solidFill>
                <a:latin typeface="Aptos"/>
              </a:rPr>
              <a:t>Carga el componente que valida reglas y administra el carrito.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8787384" y="1797812"/>
            <a:ext cx="1143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Aptos"/>
              </a:rPr>
              <a:t>FRONTEND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9678924" y="1732788"/>
            <a:ext cx="502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dirty="0">
                <a:solidFill>
                  <a:srgbClr val="7332FA"/>
                </a:solidFill>
                <a:latin typeface="Aptos"/>
              </a:rPr>
              <a:t>⇄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9875520" y="1797812"/>
            <a:ext cx="1143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dirty="0">
                <a:solidFill>
                  <a:srgbClr val="412D69"/>
                </a:solidFill>
                <a:latin typeface="Aptos"/>
              </a:rPr>
              <a:t>BACKEND</a:t>
            </a:r>
          </a:p>
        </p:txBody>
      </p:sp>
      <p:sp>
        <p:nvSpPr>
          <p:cNvPr id="68" name="Rounded Rectangle 67"/>
          <p:cNvSpPr/>
          <p:nvPr/>
        </p:nvSpPr>
        <p:spPr>
          <a:xfrm>
            <a:off x="5317236" y="5875674"/>
            <a:ext cx="4709160" cy="566928"/>
          </a:xfrm>
          <a:prstGeom prst="roundRect">
            <a:avLst/>
          </a:prstGeom>
          <a:solidFill>
            <a:srgbClr val="F5F2FF"/>
          </a:solidFill>
          <a:ln>
            <a:solidFill>
              <a:srgbClr val="C9C1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41159B"/>
                </a:solidFill>
                <a:latin typeface="Aptos"/>
              </a:rPr>
              <a:t>✓  LISTO PARA RECIBIR EL PRIMER PEDIDO</a:t>
            </a:r>
          </a:p>
        </p:txBody>
      </p:sp>
      <p:cxnSp>
        <p:nvCxnSpPr>
          <p:cNvPr id="33" name="Connector 4"/>
          <p:cNvCxnSpPr/>
          <p:nvPr/>
        </p:nvCxnSpPr>
        <p:spPr>
          <a:xfrm>
            <a:off x="502920" y="1143000"/>
            <a:ext cx="11183112" cy="0"/>
          </a:xfrm>
          <a:prstGeom prst="line">
            <a:avLst/>
          </a:prstGeom>
          <a:ln w="12700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Oval 58"/>
          <p:cNvSpPr/>
          <p:nvPr/>
        </p:nvSpPr>
        <p:spPr>
          <a:xfrm>
            <a:off x="6057900" y="3780390"/>
            <a:ext cx="475488" cy="475488"/>
          </a:xfrm>
          <a:prstGeom prst="ellipse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 dirty="0">
                <a:solidFill>
                  <a:srgbClr val="FFFFFF"/>
                </a:solidFill>
                <a:latin typeface="Aptos"/>
              </a:rPr>
              <a:t>6</a:t>
            </a:r>
          </a:p>
        </p:txBody>
      </p:sp>
      <p:sp>
        <p:nvSpPr>
          <p:cNvPr id="38" name="TextBox 59"/>
          <p:cNvSpPr txBox="1"/>
          <p:nvPr/>
        </p:nvSpPr>
        <p:spPr>
          <a:xfrm>
            <a:off x="6643116" y="3771246"/>
            <a:ext cx="196596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s-ES" sz="1300" b="1" dirty="0" smtClean="0">
                <a:solidFill>
                  <a:srgbClr val="171329"/>
                </a:solidFill>
                <a:latin typeface="Aptos"/>
              </a:rPr>
              <a:t>IA</a:t>
            </a:r>
            <a:endParaRPr sz="1300" b="1" dirty="0">
              <a:solidFill>
                <a:srgbClr val="171329"/>
              </a:solidFill>
              <a:latin typeface="Aptos"/>
            </a:endParaRPr>
          </a:p>
        </p:txBody>
      </p:sp>
      <p:sp>
        <p:nvSpPr>
          <p:cNvPr id="39" name="TextBox 60"/>
          <p:cNvSpPr txBox="1"/>
          <p:nvPr/>
        </p:nvSpPr>
        <p:spPr>
          <a:xfrm>
            <a:off x="6643116" y="4054710"/>
            <a:ext cx="2057400" cy="2385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dirty="0" smtClean="0">
                <a:solidFill>
                  <a:srgbClr val="625D75"/>
                </a:solidFill>
                <a:latin typeface="Aptos"/>
              </a:rPr>
              <a:t>STT </a:t>
            </a:r>
            <a:r>
              <a:rPr sz="950" b="0" dirty="0">
                <a:solidFill>
                  <a:srgbClr val="625D75"/>
                </a:solidFill>
                <a:latin typeface="Aptos"/>
              </a:rPr>
              <a:t>e </a:t>
            </a:r>
            <a:r>
              <a:rPr sz="950" b="0" dirty="0" err="1">
                <a:solidFill>
                  <a:srgbClr val="625D75"/>
                </a:solidFill>
                <a:latin typeface="Aptos"/>
              </a:rPr>
              <a:t>intérprete</a:t>
            </a:r>
            <a:r>
              <a:rPr sz="950" b="0" dirty="0">
                <a:solidFill>
                  <a:srgbClr val="625D75"/>
                </a:solidFill>
                <a:latin typeface="Aptos"/>
              </a:rPr>
              <a:t> LLM </a:t>
            </a:r>
            <a:r>
              <a:rPr sz="950" b="0" dirty="0" err="1">
                <a:solidFill>
                  <a:srgbClr val="625D75"/>
                </a:solidFill>
                <a:latin typeface="Aptos"/>
              </a:rPr>
              <a:t>configurado</a:t>
            </a:r>
            <a:r>
              <a:rPr sz="950" b="0" dirty="0">
                <a:solidFill>
                  <a:srgbClr val="625D75"/>
                </a:solidFill>
                <a:latin typeface="Aptos"/>
              </a:rPr>
              <a:t>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47472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300" b="1">
                <a:solidFill>
                  <a:srgbClr val="7332FA"/>
                </a:solidFill>
                <a:latin typeface="Aptos"/>
              </a:rPr>
              <a:t>03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51560" y="246888"/>
            <a:ext cx="104241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500" b="1">
                <a:solidFill>
                  <a:srgbClr val="121F31"/>
                </a:solidFill>
                <a:latin typeface="Aptos"/>
              </a:rPr>
              <a:t>Cómo está estructurado el menú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" y="758952"/>
            <a:ext cx="10058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64748B"/>
                </a:solidFill>
                <a:latin typeface="Aptos"/>
              </a:rPr>
              <a:t>Cada producto define qué opciones necesita, cuáles admite y qué está disponible.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02920" y="1143000"/>
            <a:ext cx="11183112" cy="0"/>
          </a:xfrm>
          <a:prstGeom prst="line">
            <a:avLst/>
          </a:prstGeom>
          <a:ln w="12700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4739640" y="1453896"/>
            <a:ext cx="2194560" cy="749808"/>
          </a:xfrm>
          <a:prstGeom prst="roundRect">
            <a:avLst/>
          </a:prstGeom>
          <a:solidFill>
            <a:srgbClr val="EFF6FF"/>
          </a:solidFill>
          <a:ln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4739640" y="1682496"/>
            <a:ext cx="21945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1">
                <a:solidFill>
                  <a:srgbClr val="2563EB"/>
                </a:solidFill>
                <a:latin typeface="Aptos"/>
              </a:rPr>
              <a:t>PRODUCTO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201039" y="1695521"/>
            <a:ext cx="1965960" cy="347472"/>
          </a:xfrm>
          <a:prstGeom prst="roundRect">
            <a:avLst/>
          </a:prstGeom>
          <a:solidFill>
            <a:srgbClr val="FFF7ED"/>
          </a:solidFill>
          <a:ln>
            <a:solidFill>
              <a:srgbClr val="FFF7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7201039" y="1704665"/>
            <a:ext cx="1965960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00" b="1" dirty="0">
                <a:solidFill>
                  <a:srgbClr val="F59E0B"/>
                </a:solidFill>
                <a:latin typeface="Aptos"/>
              </a:rPr>
              <a:t>DISPONIBLE / AGOTADO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5864629" y="2230858"/>
            <a:ext cx="0" cy="384326"/>
          </a:xfrm>
          <a:prstGeom prst="line">
            <a:avLst/>
          </a:prstGeom>
          <a:ln w="25400">
            <a:solidFill>
              <a:srgbClr val="6474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ounded Rectangle 30"/>
          <p:cNvSpPr/>
          <p:nvPr/>
        </p:nvSpPr>
        <p:spPr>
          <a:xfrm>
            <a:off x="2148840" y="2926081"/>
            <a:ext cx="242316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2331720" y="3108961"/>
            <a:ext cx="20574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1">
                <a:solidFill>
                  <a:srgbClr val="121F31"/>
                </a:solidFill>
                <a:latin typeface="Aptos"/>
              </a:rPr>
              <a:t>MODIFICADOR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2788920" y="3429001"/>
            <a:ext cx="1143000" cy="347472"/>
          </a:xfrm>
          <a:prstGeom prst="roundRect">
            <a:avLst/>
          </a:prstGeom>
          <a:solidFill>
            <a:srgbClr val="FEF2F2"/>
          </a:solidFill>
          <a:ln>
            <a:solidFill>
              <a:srgbClr val="FEF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2788920" y="3438144"/>
            <a:ext cx="1143000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00" b="1">
                <a:solidFill>
                  <a:srgbClr val="DC2626"/>
                </a:solidFill>
                <a:latin typeface="Aptos"/>
              </a:rPr>
              <a:t>REQUERIDO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7402206" y="2926080"/>
            <a:ext cx="242316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7585087" y="3108960"/>
            <a:ext cx="20574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1">
                <a:solidFill>
                  <a:srgbClr val="121F31"/>
                </a:solidFill>
                <a:latin typeface="Aptos"/>
              </a:rPr>
              <a:t>MODIFICADOR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8069719" y="3429000"/>
            <a:ext cx="1097280" cy="347472"/>
          </a:xfrm>
          <a:prstGeom prst="roundRect">
            <a:avLst/>
          </a:prstGeom>
          <a:solidFill>
            <a:srgbClr val="ECFDF5"/>
          </a:solidFill>
          <a:ln>
            <a:solidFill>
              <a:srgbClr val="ECFD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8069719" y="3438143"/>
            <a:ext cx="1097280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00" b="1">
                <a:solidFill>
                  <a:srgbClr val="10B981"/>
                </a:solidFill>
                <a:latin typeface="Aptos"/>
              </a:rPr>
              <a:t>OPCIONAL</a:t>
            </a:r>
          </a:p>
        </p:txBody>
      </p:sp>
      <p:cxnSp>
        <p:nvCxnSpPr>
          <p:cNvPr id="39" name="Connector 38"/>
          <p:cNvCxnSpPr/>
          <p:nvPr/>
        </p:nvCxnSpPr>
        <p:spPr>
          <a:xfrm flipH="1">
            <a:off x="3364992" y="2615184"/>
            <a:ext cx="2499637" cy="310897"/>
          </a:xfrm>
          <a:prstGeom prst="line">
            <a:avLst/>
          </a:prstGeom>
          <a:ln w="25400">
            <a:solidFill>
              <a:srgbClr val="6474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>
            <a:endCxn id="35" idx="0"/>
          </p:cNvCxnSpPr>
          <p:nvPr/>
        </p:nvCxnSpPr>
        <p:spPr>
          <a:xfrm>
            <a:off x="5871556" y="2615184"/>
            <a:ext cx="2742230" cy="310896"/>
          </a:xfrm>
          <a:prstGeom prst="line">
            <a:avLst/>
          </a:prstGeom>
          <a:ln w="25400">
            <a:solidFill>
              <a:srgbClr val="6474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Rounded Rectangle 40"/>
          <p:cNvSpPr/>
          <p:nvPr/>
        </p:nvSpPr>
        <p:spPr>
          <a:xfrm>
            <a:off x="2148840" y="4251961"/>
            <a:ext cx="2423160" cy="150876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2331720" y="4462273"/>
            <a:ext cx="20574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64748B"/>
                </a:solidFill>
                <a:latin typeface="Aptos"/>
              </a:rPr>
              <a:t>BEBIDA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377440" y="4800601"/>
            <a:ext cx="1965960" cy="7498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>
                <a:solidFill>
                  <a:srgbClr val="0F172A"/>
                </a:solidFill>
                <a:latin typeface="Aptos"/>
              </a:rPr>
              <a:t>Coca-Cola
Sprite
Agua</a:t>
            </a:r>
          </a:p>
        </p:txBody>
      </p:sp>
      <p:cxnSp>
        <p:nvCxnSpPr>
          <p:cNvPr id="44" name="Connector 43"/>
          <p:cNvCxnSpPr/>
          <p:nvPr/>
        </p:nvCxnSpPr>
        <p:spPr>
          <a:xfrm>
            <a:off x="3355848" y="3840481"/>
            <a:ext cx="0" cy="411480"/>
          </a:xfrm>
          <a:prstGeom prst="line">
            <a:avLst/>
          </a:prstGeom>
          <a:ln w="25400">
            <a:solidFill>
              <a:srgbClr val="6474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Rounded Rectangle 44"/>
          <p:cNvSpPr/>
          <p:nvPr/>
        </p:nvSpPr>
        <p:spPr>
          <a:xfrm>
            <a:off x="7402206" y="4251960"/>
            <a:ext cx="2423160" cy="150876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7585086" y="4462272"/>
            <a:ext cx="20574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64748B"/>
                </a:solidFill>
                <a:latin typeface="Aptos"/>
              </a:rPr>
              <a:t>EXTRAS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630806" y="4800600"/>
            <a:ext cx="1965960" cy="7498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>
                <a:solidFill>
                  <a:srgbClr val="0F172A"/>
                </a:solidFill>
                <a:latin typeface="Aptos"/>
              </a:rPr>
              <a:t>Tomate
Lechuga
Jamón / Queso</a:t>
            </a:r>
          </a:p>
        </p:txBody>
      </p:sp>
      <p:cxnSp>
        <p:nvCxnSpPr>
          <p:cNvPr id="48" name="Connector 47"/>
          <p:cNvCxnSpPr/>
          <p:nvPr/>
        </p:nvCxnSpPr>
        <p:spPr>
          <a:xfrm>
            <a:off x="8609215" y="3840480"/>
            <a:ext cx="0" cy="411480"/>
          </a:xfrm>
          <a:prstGeom prst="line">
            <a:avLst/>
          </a:prstGeom>
          <a:ln w="25400">
            <a:solidFill>
              <a:srgbClr val="6474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" name="TextBox 50"/>
          <p:cNvSpPr txBox="1"/>
          <p:nvPr/>
        </p:nvSpPr>
        <p:spPr>
          <a:xfrm>
            <a:off x="502920" y="6510528"/>
            <a:ext cx="36576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64748B"/>
                </a:solidFill>
                <a:latin typeface="Aptos"/>
              </a:rPr>
              <a:t>SELF ORDER  •  POC CONVERSACIONAL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0332720" y="6510528"/>
            <a:ext cx="13716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0">
                <a:solidFill>
                  <a:srgbClr val="64748B"/>
                </a:solidFill>
                <a:latin typeface="Aptos"/>
              </a:rPr>
              <a:t>SIA Interactive</a:t>
            </a:r>
          </a:p>
        </p:txBody>
      </p:sp>
      <p:sp>
        <p:nvSpPr>
          <p:cNvPr id="68" name="Rounded Rectangle 26"/>
          <p:cNvSpPr/>
          <p:nvPr/>
        </p:nvSpPr>
        <p:spPr>
          <a:xfrm>
            <a:off x="5119670" y="4690321"/>
            <a:ext cx="1965960" cy="347472"/>
          </a:xfrm>
          <a:prstGeom prst="roundRect">
            <a:avLst/>
          </a:prstGeom>
          <a:solidFill>
            <a:srgbClr val="FFF7ED"/>
          </a:solidFill>
          <a:ln>
            <a:solidFill>
              <a:srgbClr val="FFF7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9" name="TextBox 27"/>
          <p:cNvSpPr txBox="1"/>
          <p:nvPr/>
        </p:nvSpPr>
        <p:spPr>
          <a:xfrm>
            <a:off x="5119670" y="4699465"/>
            <a:ext cx="1965960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00" b="1" dirty="0">
                <a:solidFill>
                  <a:srgbClr val="F59E0B"/>
                </a:solidFill>
                <a:latin typeface="Aptos"/>
              </a:rPr>
              <a:t>DISPONIBLE / AGOTADO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47472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300" b="1">
                <a:solidFill>
                  <a:srgbClr val="7332FA"/>
                </a:solidFill>
                <a:latin typeface="Aptos"/>
              </a:rPr>
              <a:t>04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51560" y="246888"/>
            <a:ext cx="10424160" cy="47705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500" b="1" dirty="0" err="1">
                <a:solidFill>
                  <a:srgbClr val="121F31"/>
                </a:solidFill>
                <a:latin typeface="Aptos"/>
              </a:rPr>
              <a:t>Cómo</a:t>
            </a:r>
            <a:r>
              <a:rPr sz="2500" b="1" dirty="0">
                <a:solidFill>
                  <a:srgbClr val="121F31"/>
                </a:solidFill>
                <a:latin typeface="Aptos"/>
              </a:rPr>
              <a:t> </a:t>
            </a:r>
            <a:r>
              <a:rPr sz="2500" b="1" dirty="0" err="1" smtClean="0">
                <a:solidFill>
                  <a:srgbClr val="121F31"/>
                </a:solidFill>
                <a:latin typeface="Aptos"/>
              </a:rPr>
              <a:t>funciona</a:t>
            </a:r>
            <a:endParaRPr sz="2500" b="1" dirty="0">
              <a:solidFill>
                <a:srgbClr val="121F31"/>
              </a:solidFill>
              <a:latin typeface="Aptos"/>
            </a:endParaRPr>
          </a:p>
        </p:txBody>
      </p:sp>
      <p:cxnSp>
        <p:nvCxnSpPr>
          <p:cNvPr id="5" name="Connector 4"/>
          <p:cNvCxnSpPr/>
          <p:nvPr/>
        </p:nvCxnSpPr>
        <p:spPr>
          <a:xfrm>
            <a:off x="502920" y="1143000"/>
            <a:ext cx="11183112" cy="0"/>
          </a:xfrm>
          <a:prstGeom prst="line">
            <a:avLst/>
          </a:prstGeom>
          <a:ln w="12700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685800" y="1417320"/>
            <a:ext cx="10835640" cy="658368"/>
          </a:xfrm>
          <a:prstGeom prst="roundRect">
            <a:avLst/>
          </a:prstGeom>
          <a:solidFill>
            <a:srgbClr val="EFF6FF"/>
          </a:solidFill>
          <a:ln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60120" y="1609344"/>
            <a:ext cx="10287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121F31"/>
                </a:solidFill>
                <a:latin typeface="Aptos"/>
              </a:rPr>
              <a:t>“Quiero una Burger Clásica con agua y tomate”</a:t>
            </a:r>
          </a:p>
        </p:txBody>
      </p:sp>
      <p:sp>
        <p:nvSpPr>
          <p:cNvPr id="8" name="Oval 7"/>
          <p:cNvSpPr/>
          <p:nvPr/>
        </p:nvSpPr>
        <p:spPr>
          <a:xfrm>
            <a:off x="813816" y="2734056"/>
            <a:ext cx="658368" cy="658368"/>
          </a:xfrm>
          <a:prstGeom prst="ellipse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13816" y="2734056"/>
            <a:ext cx="658368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VOZ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828800" y="2679192"/>
            <a:ext cx="1143000" cy="768096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828800" y="2852928"/>
            <a:ext cx="1143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1">
                <a:solidFill>
                  <a:srgbClr val="2563EB"/>
                </a:solidFill>
                <a:latin typeface="Aptos"/>
              </a:rPr>
              <a:t>STT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1472184" y="3063240"/>
            <a:ext cx="356616" cy="0"/>
          </a:xfrm>
          <a:prstGeom prst="line">
            <a:avLst/>
          </a:prstGeom>
          <a:ln w="38100">
            <a:solidFill>
              <a:srgbClr val="256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Oval 12"/>
          <p:cNvSpPr/>
          <p:nvPr/>
        </p:nvSpPr>
        <p:spPr>
          <a:xfrm>
            <a:off x="813816" y="4471416"/>
            <a:ext cx="658368" cy="658368"/>
          </a:xfrm>
          <a:prstGeom prst="ellipse">
            <a:avLst/>
          </a:prstGeom>
          <a:solidFill>
            <a:srgbClr val="0EA5E9"/>
          </a:solidFill>
          <a:ln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13816" y="4471416"/>
            <a:ext cx="658368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TXT</a:t>
            </a:r>
          </a:p>
        </p:txBody>
      </p:sp>
      <p:cxnSp>
        <p:nvCxnSpPr>
          <p:cNvPr id="15" name="Connector 14"/>
          <p:cNvCxnSpPr>
            <a:endCxn id="17" idx="1"/>
          </p:cNvCxnSpPr>
          <p:nvPr/>
        </p:nvCxnSpPr>
        <p:spPr>
          <a:xfrm flipV="1">
            <a:off x="1472184" y="4274820"/>
            <a:ext cx="1956816" cy="525780"/>
          </a:xfrm>
          <a:prstGeom prst="line">
            <a:avLst/>
          </a:prstGeom>
          <a:ln w="38100">
            <a:solidFill>
              <a:srgbClr val="0EA5E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>
            <a:endCxn id="17" idx="0"/>
          </p:cNvCxnSpPr>
          <p:nvPr/>
        </p:nvCxnSpPr>
        <p:spPr>
          <a:xfrm>
            <a:off x="2971800" y="3063240"/>
            <a:ext cx="1165860" cy="640080"/>
          </a:xfrm>
          <a:prstGeom prst="line">
            <a:avLst/>
          </a:prstGeom>
          <a:ln w="38100">
            <a:solidFill>
              <a:srgbClr val="256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3429000" y="3703320"/>
            <a:ext cx="141732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3502152" y="3886200"/>
            <a:ext cx="1271016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1">
                <a:solidFill>
                  <a:srgbClr val="121F31"/>
                </a:solidFill>
                <a:latin typeface="Aptos"/>
              </a:rPr>
              <a:t>TEXTO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02152" y="4389120"/>
            <a:ext cx="1271016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0">
                <a:solidFill>
                  <a:srgbClr val="64748B"/>
                </a:solidFill>
                <a:latin typeface="Aptos"/>
              </a:rPr>
              <a:t>entrada común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4846320" y="4279392"/>
            <a:ext cx="274320" cy="0"/>
          </a:xfrm>
          <a:prstGeom prst="line">
            <a:avLst/>
          </a:prstGeom>
          <a:ln w="25400">
            <a:solidFill>
              <a:srgbClr val="6474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5120640" y="3703320"/>
            <a:ext cx="132588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5193792" y="3886200"/>
            <a:ext cx="1179576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1">
                <a:solidFill>
                  <a:srgbClr val="7C3AED"/>
                </a:solidFill>
                <a:latin typeface="Aptos"/>
              </a:rPr>
              <a:t>LLM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193792" y="4389120"/>
            <a:ext cx="1179576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0">
                <a:solidFill>
                  <a:srgbClr val="64748B"/>
                </a:solidFill>
                <a:latin typeface="Aptos"/>
              </a:rPr>
              <a:t>interpreta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6446520" y="4279392"/>
            <a:ext cx="274320" cy="0"/>
          </a:xfrm>
          <a:prstGeom prst="line">
            <a:avLst/>
          </a:prstGeom>
          <a:ln w="25400">
            <a:solidFill>
              <a:srgbClr val="6474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6720840" y="3703320"/>
            <a:ext cx="132588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793992" y="3886200"/>
            <a:ext cx="1179576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1">
                <a:solidFill>
                  <a:srgbClr val="0EA5E9"/>
                </a:solidFill>
                <a:latin typeface="Aptos"/>
              </a:rPr>
              <a:t>TOOLS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793992" y="4389120"/>
            <a:ext cx="1179576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0">
                <a:solidFill>
                  <a:srgbClr val="64748B"/>
                </a:solidFill>
                <a:latin typeface="Aptos"/>
              </a:rPr>
              <a:t>solicitan</a:t>
            </a:r>
          </a:p>
        </p:txBody>
      </p:sp>
      <p:cxnSp>
        <p:nvCxnSpPr>
          <p:cNvPr id="28" name="Connector 27"/>
          <p:cNvCxnSpPr>
            <a:stCxn id="25" idx="3"/>
            <a:endCxn id="29" idx="1"/>
          </p:cNvCxnSpPr>
          <p:nvPr/>
        </p:nvCxnSpPr>
        <p:spPr>
          <a:xfrm>
            <a:off x="8046720" y="4274820"/>
            <a:ext cx="274320" cy="1127"/>
          </a:xfrm>
          <a:prstGeom prst="line">
            <a:avLst/>
          </a:prstGeom>
          <a:ln w="25400">
            <a:solidFill>
              <a:srgbClr val="6474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ounded Rectangle 28"/>
          <p:cNvSpPr/>
          <p:nvPr/>
        </p:nvSpPr>
        <p:spPr>
          <a:xfrm>
            <a:off x="8321040" y="3704447"/>
            <a:ext cx="150876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8394192" y="3829050"/>
            <a:ext cx="1362456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1" dirty="0">
                <a:solidFill>
                  <a:srgbClr val="10B981"/>
                </a:solidFill>
                <a:latin typeface="Aptos"/>
              </a:rPr>
              <a:t>ORDER
SERVICE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394192" y="4389120"/>
            <a:ext cx="1362456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0" dirty="0" err="1">
                <a:solidFill>
                  <a:srgbClr val="64748B"/>
                </a:solidFill>
                <a:latin typeface="Aptos"/>
              </a:rPr>
              <a:t>valida</a:t>
            </a:r>
            <a:endParaRPr sz="1000" b="0" dirty="0">
              <a:solidFill>
                <a:srgbClr val="64748B"/>
              </a:solidFill>
              <a:latin typeface="Aptos"/>
            </a:endParaRPr>
          </a:p>
        </p:txBody>
      </p:sp>
      <p:cxnSp>
        <p:nvCxnSpPr>
          <p:cNvPr id="32" name="Connector 31"/>
          <p:cNvCxnSpPr>
            <a:stCxn id="29" idx="3"/>
            <a:endCxn id="33" idx="1"/>
          </p:cNvCxnSpPr>
          <p:nvPr/>
        </p:nvCxnSpPr>
        <p:spPr>
          <a:xfrm flipV="1">
            <a:off x="9829800" y="4274820"/>
            <a:ext cx="274320" cy="1127"/>
          </a:xfrm>
          <a:prstGeom prst="line">
            <a:avLst/>
          </a:prstGeom>
          <a:ln w="25400">
            <a:solidFill>
              <a:srgbClr val="6474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Rounded Rectangle 32"/>
          <p:cNvSpPr/>
          <p:nvPr/>
        </p:nvSpPr>
        <p:spPr>
          <a:xfrm>
            <a:off x="10104120" y="3703320"/>
            <a:ext cx="132588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10177272" y="3886200"/>
            <a:ext cx="1179576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1">
                <a:solidFill>
                  <a:srgbClr val="F59E0B"/>
                </a:solidFill>
                <a:latin typeface="Aptos"/>
              </a:rPr>
              <a:t>CARRITO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177272" y="4389120"/>
            <a:ext cx="1179576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0">
                <a:solidFill>
                  <a:srgbClr val="64748B"/>
                </a:solidFill>
                <a:latin typeface="Aptos"/>
              </a:rPr>
              <a:t>estado real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241280" y="5257800"/>
            <a:ext cx="10515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64748B"/>
                </a:solidFill>
                <a:latin typeface="Aptos"/>
              </a:rPr>
              <a:t>PANTALLA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10762488" y="4846320"/>
            <a:ext cx="0" cy="384048"/>
          </a:xfrm>
          <a:prstGeom prst="line">
            <a:avLst/>
          </a:prstGeom>
          <a:ln w="25400">
            <a:solidFill>
              <a:srgbClr val="F59E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Rounded Rectangle 37"/>
          <p:cNvSpPr/>
          <p:nvPr/>
        </p:nvSpPr>
        <p:spPr>
          <a:xfrm>
            <a:off x="658368" y="5806440"/>
            <a:ext cx="1874519" cy="347472"/>
          </a:xfrm>
          <a:prstGeom prst="roundRect">
            <a:avLst/>
          </a:prstGeom>
          <a:solidFill>
            <a:srgbClr val="EFF6FF"/>
          </a:solidFill>
          <a:ln>
            <a:solidFill>
              <a:srgbClr val="EFF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658368" y="5786365"/>
            <a:ext cx="1874519" cy="3693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00" b="1" dirty="0" smtClean="0">
                <a:solidFill>
                  <a:srgbClr val="2563EB"/>
                </a:solidFill>
                <a:latin typeface="Aptos"/>
              </a:rPr>
              <a:t>INTERACCIÓN</a:t>
            </a:r>
            <a:r>
              <a:rPr lang="es-ES" sz="900" b="1" dirty="0">
                <a:solidFill>
                  <a:srgbClr val="2563EB"/>
                </a:solidFill>
                <a:latin typeface="Aptos"/>
              </a:rPr>
              <a:t> </a:t>
            </a:r>
            <a:endParaRPr lang="es-ES" sz="900" b="1" dirty="0" smtClean="0">
              <a:solidFill>
                <a:srgbClr val="2563EB"/>
              </a:solidFill>
              <a:latin typeface="Aptos"/>
            </a:endParaRPr>
          </a:p>
          <a:p>
            <a:pPr algn="ctr"/>
            <a:r>
              <a:rPr lang="es-ES" sz="900" b="1" dirty="0" smtClean="0">
                <a:solidFill>
                  <a:srgbClr val="2563EB"/>
                </a:solidFill>
                <a:latin typeface="Aptos"/>
              </a:rPr>
              <a:t>USUARIO - SISTENA</a:t>
            </a:r>
            <a:endParaRPr sz="900" b="1" dirty="0">
              <a:solidFill>
                <a:srgbClr val="2563EB"/>
              </a:solidFill>
              <a:latin typeface="Aptos"/>
            </a:endParaRPr>
          </a:p>
        </p:txBody>
      </p:sp>
      <p:sp>
        <p:nvSpPr>
          <p:cNvPr id="40" name="Rounded Rectangle 39"/>
          <p:cNvSpPr/>
          <p:nvPr/>
        </p:nvSpPr>
        <p:spPr>
          <a:xfrm>
            <a:off x="4434840" y="5806440"/>
            <a:ext cx="2057400" cy="347472"/>
          </a:xfrm>
          <a:prstGeom prst="roundRect">
            <a:avLst/>
          </a:prstGeom>
          <a:solidFill>
            <a:srgbClr val="F5F3FF"/>
          </a:solidFill>
          <a:ln>
            <a:solidFill>
              <a:srgbClr val="F5F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4434840" y="5815583"/>
            <a:ext cx="2057400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00" b="1">
                <a:solidFill>
                  <a:srgbClr val="7C3AED"/>
                </a:solidFill>
                <a:latin typeface="Aptos"/>
              </a:rPr>
              <a:t>INTERPRETACIÓN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7818120" y="5806440"/>
            <a:ext cx="2331720" cy="347472"/>
          </a:xfrm>
          <a:prstGeom prst="roundRect">
            <a:avLst/>
          </a:prstGeom>
          <a:solidFill>
            <a:srgbClr val="ECFDF5"/>
          </a:solidFill>
          <a:ln>
            <a:solidFill>
              <a:srgbClr val="ECFD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7818120" y="5815583"/>
            <a:ext cx="2331720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00" b="1">
                <a:solidFill>
                  <a:srgbClr val="10B981"/>
                </a:solidFill>
                <a:latin typeface="Aptos"/>
              </a:rPr>
              <a:t>REGLAS DE NEGOCIO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02920" y="6510528"/>
            <a:ext cx="36576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64748B"/>
                </a:solidFill>
                <a:latin typeface="Aptos"/>
              </a:rPr>
              <a:t>SELF ORDER  •  POC CONVERSACIONAL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332720" y="6510528"/>
            <a:ext cx="13716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0">
                <a:solidFill>
                  <a:srgbClr val="64748B"/>
                </a:solidFill>
                <a:latin typeface="Aptos"/>
              </a:rPr>
              <a:t>SIA Interactive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47472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300" b="1">
                <a:solidFill>
                  <a:srgbClr val="7332FA"/>
                </a:solidFill>
                <a:latin typeface="Aptos"/>
              </a:rPr>
              <a:t>05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51560" y="246888"/>
            <a:ext cx="104241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500" b="1">
                <a:solidFill>
                  <a:srgbClr val="121F31"/>
                </a:solidFill>
                <a:latin typeface="Aptos"/>
              </a:rPr>
              <a:t>Cómo está organizado el proyecto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" y="758952"/>
            <a:ext cx="10058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t>Responsabilidades separadas y proveedores de IA desacoplados del núcleo del pedido.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02920" y="1143000"/>
            <a:ext cx="11183112" cy="0"/>
          </a:xfrm>
          <a:prstGeom prst="line">
            <a:avLst/>
          </a:prstGeom>
          <a:ln w="12700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3275492" y="1490472"/>
            <a:ext cx="5246716" cy="713232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3522380" y="1700784"/>
            <a:ext cx="292608" cy="292608"/>
          </a:xfrm>
          <a:prstGeom prst="ellipse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961292" y="1655063"/>
            <a:ext cx="18288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2563EB"/>
                </a:solidFill>
                <a:latin typeface="Aptos"/>
              </a:rPr>
              <a:t>FRONTEND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72972" y="1655062"/>
            <a:ext cx="2381319" cy="2923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0F172A"/>
                </a:solidFill>
                <a:latin typeface="Aptos"/>
              </a:rPr>
              <a:t>Interfaz · voz · carrito · pago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275492" y="2468880"/>
            <a:ext cx="5246716" cy="713232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3522380" y="2679192"/>
            <a:ext cx="292608" cy="292608"/>
          </a:xfrm>
          <a:prstGeom prst="ellipse">
            <a:avLst/>
          </a:prstGeom>
          <a:solidFill>
            <a:srgbClr val="0EA5E9"/>
          </a:solidFill>
          <a:ln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961292" y="2633472"/>
            <a:ext cx="18288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0EA5E9"/>
                </a:solidFill>
                <a:latin typeface="Aptos"/>
              </a:rPr>
              <a:t>BACKEND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72972" y="2615184"/>
            <a:ext cx="2156044" cy="2923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dirty="0">
                <a:solidFill>
                  <a:srgbClr val="0F172A"/>
                </a:solidFill>
                <a:latin typeface="Aptos"/>
              </a:rPr>
              <a:t>API · </a:t>
            </a:r>
            <a:r>
              <a:rPr sz="1300" b="0" dirty="0" err="1">
                <a:solidFill>
                  <a:srgbClr val="0F172A"/>
                </a:solidFill>
                <a:latin typeface="Aptos"/>
              </a:rPr>
              <a:t>sesiones</a:t>
            </a:r>
            <a:r>
              <a:rPr sz="1300" b="0" dirty="0">
                <a:solidFill>
                  <a:srgbClr val="0F172A"/>
                </a:solidFill>
                <a:latin typeface="Aptos"/>
              </a:rPr>
              <a:t> · </a:t>
            </a:r>
            <a:r>
              <a:rPr sz="1300" b="0" dirty="0" err="1">
                <a:solidFill>
                  <a:srgbClr val="0F172A"/>
                </a:solidFill>
                <a:latin typeface="Aptos"/>
              </a:rPr>
              <a:t>eventos</a:t>
            </a:r>
            <a:endParaRPr sz="1300" b="0" dirty="0">
              <a:solidFill>
                <a:srgbClr val="0F172A"/>
              </a:solidFill>
              <a:latin typeface="Aptos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960120" y="3566160"/>
            <a:ext cx="288036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188720" y="3794760"/>
            <a:ext cx="24231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7C3AED"/>
                </a:solidFill>
                <a:latin typeface="Aptos"/>
              </a:rPr>
              <a:t>IA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34440" y="4187952"/>
            <a:ext cx="2331720" cy="43088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dirty="0">
                <a:solidFill>
                  <a:srgbClr val="625D75"/>
                </a:solidFill>
                <a:latin typeface="Aptos"/>
              </a:rPr>
              <a:t>STT · LLM · Tools</a:t>
            </a:r>
          </a:p>
          <a:p>
            <a:pPr algn="ctr"/>
            <a:r>
              <a:rPr sz="1100" dirty="0" err="1" smtClean="0">
                <a:solidFill>
                  <a:srgbClr val="625D75"/>
                </a:solidFill>
                <a:latin typeface="Aptos"/>
              </a:rPr>
              <a:t>Contratos</a:t>
            </a:r>
            <a:r>
              <a:rPr sz="1100" dirty="0" smtClean="0">
                <a:solidFill>
                  <a:srgbClr val="625D75"/>
                </a:solidFill>
                <a:latin typeface="Aptos"/>
              </a:rPr>
              <a:t> </a:t>
            </a:r>
            <a:r>
              <a:rPr sz="1100" dirty="0">
                <a:solidFill>
                  <a:srgbClr val="625D75"/>
                </a:solidFill>
                <a:latin typeface="Aptos"/>
              </a:rPr>
              <a:t>+ </a:t>
            </a:r>
            <a:r>
              <a:rPr sz="1100" dirty="0" err="1">
                <a:solidFill>
                  <a:srgbClr val="625D75"/>
                </a:solidFill>
                <a:latin typeface="Aptos"/>
              </a:rPr>
              <a:t>adaptadores</a:t>
            </a:r>
            <a:endParaRPr sz="1100" dirty="0">
              <a:solidFill>
                <a:srgbClr val="625D75"/>
              </a:solidFill>
              <a:latin typeface="Aptos"/>
            </a:endParaRPr>
          </a:p>
        </p:txBody>
      </p:sp>
      <p:sp>
        <p:nvSpPr>
          <p:cNvPr id="17" name="Rounded Rectangle 16"/>
          <p:cNvSpPr/>
          <p:nvPr/>
        </p:nvSpPr>
        <p:spPr>
          <a:xfrm>
            <a:off x="4407408" y="3566160"/>
            <a:ext cx="288036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636008" y="3794760"/>
            <a:ext cx="24231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10B981"/>
                </a:solidFill>
                <a:latin typeface="Aptos"/>
              </a:rPr>
              <a:t>SERVICIOS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81728" y="4187952"/>
            <a:ext cx="2331720" cy="6217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0">
                <a:solidFill>
                  <a:srgbClr val="64748B"/>
                </a:solidFill>
                <a:latin typeface="Aptos"/>
              </a:rPr>
              <a:t>OrderService
Reglas del pedido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854696" y="3566160"/>
            <a:ext cx="288036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083296" y="3794760"/>
            <a:ext cx="24231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F59E0B"/>
                </a:solidFill>
                <a:latin typeface="Aptos"/>
              </a:rPr>
              <a:t>DOMINIO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129016" y="4187952"/>
            <a:ext cx="2331720" cy="6217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0">
                <a:solidFill>
                  <a:srgbClr val="64748B"/>
                </a:solidFill>
                <a:latin typeface="Aptos"/>
              </a:rPr>
              <a:t>Menú · Carrito · Sesión
Estructuras y estados del pedido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554480" y="5394960"/>
            <a:ext cx="2468880" cy="566928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1691639" y="5550408"/>
            <a:ext cx="7315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121F31"/>
                </a:solidFill>
                <a:latin typeface="Aptos"/>
              </a:rPr>
              <a:t>CONFIG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395728" y="5550408"/>
            <a:ext cx="146304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Aptos"/>
              </a:rPr>
              <a:t>menú · proveedores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617720" y="5394960"/>
            <a:ext cx="2468880" cy="566928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4754880" y="5550408"/>
            <a:ext cx="7315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121F31"/>
                </a:solidFill>
                <a:latin typeface="Aptos"/>
              </a:rPr>
              <a:t>TESTS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58968" y="5550408"/>
            <a:ext cx="146304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Aptos"/>
              </a:rPr>
              <a:t>reglas · contratos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680960" y="5394960"/>
            <a:ext cx="2468880" cy="566928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7818120" y="5550408"/>
            <a:ext cx="7315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121F31"/>
                </a:solidFill>
                <a:latin typeface="Aptos"/>
              </a:rPr>
              <a:t>DOCS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522208" y="5550408"/>
            <a:ext cx="146304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Aptos"/>
              </a:rPr>
              <a:t>arquitectura · recorrido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02920" y="6510528"/>
            <a:ext cx="36576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64748B"/>
                </a:solidFill>
                <a:latin typeface="Aptos"/>
              </a:rPr>
              <a:t>SELF ORDER  •  POC CONVERSACIONAL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332720" y="6510528"/>
            <a:ext cx="13716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0">
                <a:solidFill>
                  <a:srgbClr val="64748B"/>
                </a:solidFill>
                <a:latin typeface="Aptos"/>
              </a:rPr>
              <a:t>SIA Interactive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47472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300" b="1">
                <a:solidFill>
                  <a:srgbClr val="7332FA"/>
                </a:solidFill>
                <a:latin typeface="Aptos"/>
              </a:rPr>
              <a:t>07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51560" y="246888"/>
            <a:ext cx="104241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500" b="1">
                <a:solidFill>
                  <a:srgbClr val="121F31"/>
                </a:solidFill>
                <a:latin typeface="Aptos"/>
              </a:rPr>
              <a:t>Qué funciona hoy y qué está simulado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" y="758952"/>
            <a:ext cx="10058400" cy="3693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dirty="0" err="1"/>
              <a:t>Qué</a:t>
            </a:r>
            <a:r>
              <a:rPr dirty="0"/>
              <a:t> </a:t>
            </a:r>
            <a:r>
              <a:rPr dirty="0" err="1"/>
              <a:t>valida</a:t>
            </a:r>
            <a:r>
              <a:rPr dirty="0"/>
              <a:t> la </a:t>
            </a:r>
            <a:r>
              <a:rPr lang="es-ES" dirty="0" smtClean="0"/>
              <a:t>demo </a:t>
            </a:r>
            <a:r>
              <a:rPr dirty="0" smtClean="0"/>
              <a:t>hoy </a:t>
            </a:r>
            <a:r>
              <a:rPr dirty="0"/>
              <a:t>y </a:t>
            </a:r>
            <a:r>
              <a:rPr dirty="0" err="1"/>
              <a:t>qué</a:t>
            </a:r>
            <a:r>
              <a:rPr dirty="0"/>
              <a:t> </a:t>
            </a:r>
            <a:r>
              <a:rPr dirty="0" err="1"/>
              <a:t>integraciones</a:t>
            </a:r>
            <a:r>
              <a:rPr dirty="0"/>
              <a:t> </a:t>
            </a:r>
            <a:r>
              <a:rPr dirty="0" err="1"/>
              <a:t>faltan</a:t>
            </a:r>
            <a:r>
              <a:rPr dirty="0"/>
              <a:t> para </a:t>
            </a:r>
            <a:r>
              <a:rPr dirty="0" err="1"/>
              <a:t>una</a:t>
            </a:r>
            <a:r>
              <a:rPr dirty="0"/>
              <a:t> </a:t>
            </a:r>
            <a:r>
              <a:rPr dirty="0" err="1"/>
              <a:t>operación</a:t>
            </a:r>
            <a:r>
              <a:rPr dirty="0"/>
              <a:t> </a:t>
            </a:r>
            <a:r>
              <a:rPr dirty="0" err="1"/>
              <a:t>productiva</a:t>
            </a:r>
            <a:r>
              <a:rPr dirty="0"/>
              <a:t>.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02920" y="1143000"/>
            <a:ext cx="11183112" cy="0"/>
          </a:xfrm>
          <a:prstGeom prst="line">
            <a:avLst/>
          </a:prstGeom>
          <a:ln w="12700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731520" y="1938253"/>
            <a:ext cx="5257800" cy="3666744"/>
          </a:xfrm>
          <a:prstGeom prst="roundRect">
            <a:avLst/>
          </a:prstGeom>
          <a:solidFill>
            <a:srgbClr val="F0FDFA"/>
          </a:solidFill>
          <a:ln>
            <a:solidFill>
              <a:srgbClr val="A7F3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51560" y="2240005"/>
            <a:ext cx="1828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0B981"/>
                </a:solidFill>
                <a:latin typeface="Aptos"/>
              </a:rPr>
              <a:t>IMPLEMENTADO</a:t>
            </a:r>
          </a:p>
        </p:txBody>
      </p:sp>
      <p:sp>
        <p:nvSpPr>
          <p:cNvPr id="8" name="Oval 7"/>
          <p:cNvSpPr/>
          <p:nvPr/>
        </p:nvSpPr>
        <p:spPr>
          <a:xfrm>
            <a:off x="1042415" y="2752069"/>
            <a:ext cx="201168" cy="201168"/>
          </a:xfrm>
          <a:prstGeom prst="ellipse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42415" y="2752069"/>
            <a:ext cx="201168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700" b="1">
                <a:solidFill>
                  <a:srgbClr val="FFFFFF"/>
                </a:solidFill>
                <a:latin typeface="Aptos"/>
              </a:rPr>
              <a:t>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2724637"/>
            <a:ext cx="41148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0F172A"/>
                </a:solidFill>
                <a:latin typeface="Aptos"/>
              </a:rPr>
              <a:t>Voz → texto</a:t>
            </a:r>
          </a:p>
        </p:txBody>
      </p:sp>
      <p:sp>
        <p:nvSpPr>
          <p:cNvPr id="11" name="Oval 10"/>
          <p:cNvSpPr/>
          <p:nvPr/>
        </p:nvSpPr>
        <p:spPr>
          <a:xfrm>
            <a:off x="1042415" y="3190981"/>
            <a:ext cx="201168" cy="201168"/>
          </a:xfrm>
          <a:prstGeom prst="ellipse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042415" y="3190981"/>
            <a:ext cx="201168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700" b="1">
                <a:solidFill>
                  <a:srgbClr val="FFFFFF"/>
                </a:solidFill>
                <a:latin typeface="Aptos"/>
              </a:rPr>
              <a:t>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3163549"/>
            <a:ext cx="41148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0F172A"/>
                </a:solidFill>
                <a:latin typeface="Aptos"/>
              </a:rPr>
              <a:t>Texto → intención</a:t>
            </a:r>
          </a:p>
        </p:txBody>
      </p:sp>
      <p:sp>
        <p:nvSpPr>
          <p:cNvPr id="14" name="Oval 13"/>
          <p:cNvSpPr/>
          <p:nvPr/>
        </p:nvSpPr>
        <p:spPr>
          <a:xfrm>
            <a:off x="1042415" y="3629893"/>
            <a:ext cx="201168" cy="201168"/>
          </a:xfrm>
          <a:prstGeom prst="ellipse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042415" y="3629893"/>
            <a:ext cx="201168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700" b="1">
                <a:solidFill>
                  <a:srgbClr val="FFFFFF"/>
                </a:solidFill>
                <a:latin typeface="Aptos"/>
              </a:rPr>
              <a:t>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3602461"/>
            <a:ext cx="41148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0F172A"/>
                </a:solidFill>
                <a:latin typeface="Aptos"/>
              </a:rPr>
              <a:t>Carrito y precios</a:t>
            </a:r>
          </a:p>
        </p:txBody>
      </p:sp>
      <p:sp>
        <p:nvSpPr>
          <p:cNvPr id="17" name="Oval 16"/>
          <p:cNvSpPr/>
          <p:nvPr/>
        </p:nvSpPr>
        <p:spPr>
          <a:xfrm>
            <a:off x="1042415" y="4068805"/>
            <a:ext cx="201168" cy="201168"/>
          </a:xfrm>
          <a:prstGeom prst="ellipse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042415" y="4068805"/>
            <a:ext cx="201168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700" b="1">
                <a:solidFill>
                  <a:srgbClr val="FFFFFF"/>
                </a:solidFill>
                <a:latin typeface="Aptos"/>
              </a:rPr>
              <a:t>✓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041372"/>
            <a:ext cx="41148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0F172A"/>
                </a:solidFill>
                <a:latin typeface="Aptos"/>
              </a:rPr>
              <a:t>Disponibilidad y modificadores</a:t>
            </a:r>
          </a:p>
        </p:txBody>
      </p:sp>
      <p:sp>
        <p:nvSpPr>
          <p:cNvPr id="20" name="Oval 19"/>
          <p:cNvSpPr/>
          <p:nvPr/>
        </p:nvSpPr>
        <p:spPr>
          <a:xfrm>
            <a:off x="1042415" y="4507717"/>
            <a:ext cx="201168" cy="201168"/>
          </a:xfrm>
          <a:prstGeom prst="ellipse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1042415" y="4507717"/>
            <a:ext cx="201168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700" b="1">
                <a:solidFill>
                  <a:srgbClr val="FFFFFF"/>
                </a:solidFill>
                <a:latin typeface="Aptos"/>
              </a:rPr>
              <a:t>✓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71600" y="4480284"/>
            <a:ext cx="41148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0F172A"/>
                </a:solidFill>
                <a:latin typeface="Aptos"/>
              </a:rPr>
              <a:t>Estados del pedido</a:t>
            </a:r>
          </a:p>
        </p:txBody>
      </p:sp>
      <p:sp>
        <p:nvSpPr>
          <p:cNvPr id="23" name="Oval 22"/>
          <p:cNvSpPr/>
          <p:nvPr/>
        </p:nvSpPr>
        <p:spPr>
          <a:xfrm>
            <a:off x="1042415" y="4946629"/>
            <a:ext cx="201168" cy="201168"/>
          </a:xfrm>
          <a:prstGeom prst="ellipse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1042415" y="4946629"/>
            <a:ext cx="201168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700" b="1">
                <a:solidFill>
                  <a:srgbClr val="FFFFFF"/>
                </a:solidFill>
                <a:latin typeface="Aptos"/>
              </a:rPr>
              <a:t>✓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71600" y="4919197"/>
            <a:ext cx="41148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0F172A"/>
                </a:solidFill>
                <a:latin typeface="Aptos"/>
              </a:rPr>
              <a:t>Selección de método de pago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217920" y="1938253"/>
            <a:ext cx="5257800" cy="3666744"/>
          </a:xfrm>
          <a:prstGeom prst="roundRect">
            <a:avLst/>
          </a:prstGeom>
          <a:solidFill>
            <a:srgbClr val="FFF7ED"/>
          </a:solidFill>
          <a:ln>
            <a:solidFill>
              <a:srgbClr val="FED7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6537959" y="2240005"/>
            <a:ext cx="3794761" cy="32316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lang="es-ES" sz="1500" b="1" dirty="0" smtClean="0">
                <a:solidFill>
                  <a:srgbClr val="F59E0B"/>
                </a:solidFill>
                <a:latin typeface="Aptos"/>
              </a:rPr>
              <a:t>FALTANTES PARA </a:t>
            </a:r>
            <a:r>
              <a:rPr sz="1500" b="1" dirty="0" smtClean="0">
                <a:solidFill>
                  <a:srgbClr val="F59E0B"/>
                </a:solidFill>
                <a:latin typeface="Aptos"/>
              </a:rPr>
              <a:t>PRODUCCIÓN</a:t>
            </a:r>
            <a:endParaRPr sz="1500" b="1" dirty="0">
              <a:solidFill>
                <a:srgbClr val="F59E0B"/>
              </a:solidFill>
              <a:latin typeface="Aptos"/>
            </a:endParaRPr>
          </a:p>
        </p:txBody>
      </p:sp>
      <p:sp>
        <p:nvSpPr>
          <p:cNvPr id="31" name="Oval 30"/>
          <p:cNvSpPr/>
          <p:nvPr/>
        </p:nvSpPr>
        <p:spPr>
          <a:xfrm>
            <a:off x="6528816" y="2752069"/>
            <a:ext cx="201168" cy="201168"/>
          </a:xfrm>
          <a:prstGeom prst="ellipse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6528816" y="2752069"/>
            <a:ext cx="201168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700" b="1">
                <a:solidFill>
                  <a:srgbClr val="FFFFFF"/>
                </a:solidFill>
                <a:latin typeface="Aptos"/>
              </a:rPr>
              <a:t>→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858000" y="2724637"/>
            <a:ext cx="4160520" cy="27699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lang="es-ES" sz="1200" b="0" dirty="0" smtClean="0">
                <a:solidFill>
                  <a:srgbClr val="0F172A"/>
                </a:solidFill>
                <a:latin typeface="Aptos"/>
              </a:rPr>
              <a:t>Conexión con el menú y stock centralizado</a:t>
            </a:r>
            <a:endParaRPr sz="1200" b="0" dirty="0">
              <a:solidFill>
                <a:srgbClr val="0F172A"/>
              </a:solidFill>
              <a:latin typeface="Aptos"/>
            </a:endParaRPr>
          </a:p>
        </p:txBody>
      </p:sp>
      <p:sp>
        <p:nvSpPr>
          <p:cNvPr id="34" name="Oval 33"/>
          <p:cNvSpPr/>
          <p:nvPr/>
        </p:nvSpPr>
        <p:spPr>
          <a:xfrm>
            <a:off x="6528816" y="3190981"/>
            <a:ext cx="201168" cy="201168"/>
          </a:xfrm>
          <a:prstGeom prst="ellipse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6528816" y="3190981"/>
            <a:ext cx="201168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700" b="1">
                <a:solidFill>
                  <a:srgbClr val="FFFFFF"/>
                </a:solidFill>
                <a:latin typeface="Aptos"/>
              </a:rPr>
              <a:t>→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858000" y="3163549"/>
            <a:ext cx="41605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0F172A"/>
                </a:solidFill>
                <a:latin typeface="Aptos"/>
              </a:rPr>
              <a:t>POS / cocina</a:t>
            </a:r>
          </a:p>
        </p:txBody>
      </p:sp>
      <p:sp>
        <p:nvSpPr>
          <p:cNvPr id="37" name="Oval 36"/>
          <p:cNvSpPr/>
          <p:nvPr/>
        </p:nvSpPr>
        <p:spPr>
          <a:xfrm>
            <a:off x="6528816" y="3629893"/>
            <a:ext cx="201168" cy="201168"/>
          </a:xfrm>
          <a:prstGeom prst="ellipse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6528816" y="3629893"/>
            <a:ext cx="201168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700" b="1">
                <a:solidFill>
                  <a:srgbClr val="FFFFFF"/>
                </a:solidFill>
                <a:latin typeface="Aptos"/>
              </a:rPr>
              <a:t>→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858000" y="3602461"/>
            <a:ext cx="41605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 dirty="0" err="1">
                <a:solidFill>
                  <a:srgbClr val="0F172A"/>
                </a:solidFill>
                <a:latin typeface="Aptos"/>
              </a:rPr>
              <a:t>Persistencia</a:t>
            </a:r>
            <a:r>
              <a:rPr sz="1200" b="0" dirty="0">
                <a:solidFill>
                  <a:srgbClr val="0F172A"/>
                </a:solidFill>
                <a:latin typeface="Aptos"/>
              </a:rPr>
              <a:t> durable</a:t>
            </a:r>
          </a:p>
        </p:txBody>
      </p:sp>
      <p:sp>
        <p:nvSpPr>
          <p:cNvPr id="43" name="Oval 42"/>
          <p:cNvSpPr/>
          <p:nvPr/>
        </p:nvSpPr>
        <p:spPr>
          <a:xfrm>
            <a:off x="6528816" y="4072287"/>
            <a:ext cx="201168" cy="201168"/>
          </a:xfrm>
          <a:prstGeom prst="ellipse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6528816" y="4072287"/>
            <a:ext cx="201168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700" b="1">
                <a:solidFill>
                  <a:srgbClr val="FFFFFF"/>
                </a:solidFill>
                <a:latin typeface="Aptos"/>
              </a:rPr>
              <a:t>→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858000" y="4044854"/>
            <a:ext cx="4160520" cy="27699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 dirty="0">
                <a:solidFill>
                  <a:srgbClr val="0F172A"/>
                </a:solidFill>
                <a:latin typeface="Aptos"/>
              </a:rPr>
              <a:t>Hardware </a:t>
            </a:r>
            <a:r>
              <a:rPr sz="1200" b="0" dirty="0" smtClean="0">
                <a:solidFill>
                  <a:srgbClr val="0F172A"/>
                </a:solidFill>
                <a:latin typeface="Aptos"/>
              </a:rPr>
              <a:t>d</a:t>
            </a:r>
            <a:r>
              <a:rPr lang="es-ES" sz="1200" b="0" dirty="0" smtClean="0">
                <a:solidFill>
                  <a:srgbClr val="0F172A"/>
                </a:solidFill>
                <a:latin typeface="Aptos"/>
              </a:rPr>
              <a:t>el sistema</a:t>
            </a:r>
            <a:endParaRPr sz="1200" b="0" dirty="0">
              <a:solidFill>
                <a:srgbClr val="0F172A"/>
              </a:solidFill>
              <a:latin typeface="Aptos"/>
            </a:endParaRPr>
          </a:p>
        </p:txBody>
      </p:sp>
      <p:sp>
        <p:nvSpPr>
          <p:cNvPr id="46" name="Oval 45"/>
          <p:cNvSpPr/>
          <p:nvPr/>
        </p:nvSpPr>
        <p:spPr>
          <a:xfrm>
            <a:off x="6528816" y="4511199"/>
            <a:ext cx="201168" cy="201168"/>
          </a:xfrm>
          <a:prstGeom prst="ellipse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6528816" y="4511199"/>
            <a:ext cx="201168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700" b="1">
                <a:solidFill>
                  <a:srgbClr val="FFFFFF"/>
                </a:solidFill>
                <a:latin typeface="Aptos"/>
              </a:rPr>
              <a:t>→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858000" y="4483767"/>
            <a:ext cx="41605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 dirty="0" err="1">
                <a:solidFill>
                  <a:srgbClr val="0F172A"/>
                </a:solidFill>
                <a:latin typeface="Aptos"/>
              </a:rPr>
              <a:t>Infraestructura</a:t>
            </a:r>
            <a:r>
              <a:rPr sz="1200" b="0" dirty="0">
                <a:solidFill>
                  <a:srgbClr val="0F172A"/>
                </a:solidFill>
                <a:latin typeface="Aptos"/>
              </a:rPr>
              <a:t> / </a:t>
            </a:r>
            <a:r>
              <a:rPr sz="1200" b="0" dirty="0" err="1">
                <a:solidFill>
                  <a:srgbClr val="0F172A"/>
                </a:solidFill>
                <a:latin typeface="Aptos"/>
              </a:rPr>
              <a:t>observabilidad</a:t>
            </a:r>
            <a:endParaRPr sz="1200" b="0" dirty="0">
              <a:solidFill>
                <a:srgbClr val="0F172A"/>
              </a:solidFill>
              <a:latin typeface="Aptos"/>
            </a:endParaRPr>
          </a:p>
        </p:txBody>
      </p:sp>
      <p:sp>
        <p:nvSpPr>
          <p:cNvPr id="49" name="Oval 48"/>
          <p:cNvSpPr/>
          <p:nvPr/>
        </p:nvSpPr>
        <p:spPr>
          <a:xfrm>
            <a:off x="6528816" y="4950110"/>
            <a:ext cx="201168" cy="201168"/>
          </a:xfrm>
          <a:prstGeom prst="ellipse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6528816" y="4950110"/>
            <a:ext cx="201168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700" b="1">
                <a:solidFill>
                  <a:srgbClr val="FFFFFF"/>
                </a:solidFill>
                <a:latin typeface="Aptos"/>
              </a:rPr>
              <a:t>→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858000" y="4922679"/>
            <a:ext cx="4160520" cy="27699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lang="es-AR" sz="1200" dirty="0">
                <a:solidFill>
                  <a:srgbClr val="0F172A"/>
                </a:solidFill>
                <a:latin typeface="Aptos"/>
              </a:rPr>
              <a:t>Pago real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02920" y="6510528"/>
            <a:ext cx="36576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64748B"/>
                </a:solidFill>
                <a:latin typeface="Aptos"/>
              </a:rPr>
              <a:t>SELF ORDER  •  POC CONVERSACIONAL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0332720" y="6510528"/>
            <a:ext cx="13716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0">
                <a:solidFill>
                  <a:srgbClr val="64748B"/>
                </a:solidFill>
                <a:latin typeface="Aptos"/>
              </a:rPr>
              <a:t>SIA Interactive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1220</TotalTime>
  <Words>448</Words>
  <Application>Microsoft Office PowerPoint</Application>
  <PresentationFormat>Panorámica</PresentationFormat>
  <Paragraphs>142</Paragraphs>
  <Slides>6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6</vt:i4>
      </vt:variant>
    </vt:vector>
  </HeadingPairs>
  <TitlesOfParts>
    <vt:vector size="10" baseType="lpstr">
      <vt:lpstr>Aptos</vt:lpstr>
      <vt:lpstr>Arial</vt:lpstr>
      <vt:lpstr>Calibri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Manager/>
  <Company/>
  <LinksUpToDate>false</LinksUpToDate>
  <SharedDoc>false</SharedDoc>
  <HyperlinkBase/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subject/>
  <dc:creator/>
  <cp:keywords/>
  <dc:description>generated using python-pptx</dc:description>
  <cp:lastModifiedBy>Cuenta Microsoft</cp:lastModifiedBy>
  <cp:revision>17</cp:revision>
  <dcterms:created xsi:type="dcterms:W3CDTF">2013-01-27T09:14:16Z</dcterms:created>
  <dcterms:modified xsi:type="dcterms:W3CDTF">2026-09-22T16:08:53Z</dcterms:modified>
  <cp:category/>
</cp:coreProperties>
</file>